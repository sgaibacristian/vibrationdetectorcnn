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0" r:id="rId1"/>
  </p:sldMasterIdLst>
  <p:sldIdLst>
    <p:sldId id="256" r:id="rId2"/>
    <p:sldId id="267" r:id="rId3"/>
    <p:sldId id="257" r:id="rId4"/>
    <p:sldId id="258" r:id="rId5"/>
    <p:sldId id="264" r:id="rId6"/>
    <p:sldId id="265" r:id="rId7"/>
    <p:sldId id="266" r:id="rId8"/>
    <p:sldId id="259" r:id="rId9"/>
    <p:sldId id="268" r:id="rId10"/>
    <p:sldId id="269" r:id="rId11"/>
    <p:sldId id="270" r:id="rId12"/>
    <p:sldId id="271" r:id="rId13"/>
    <p:sldId id="260" r:id="rId14"/>
    <p:sldId id="261" r:id="rId15"/>
    <p:sldId id="272" r:id="rId16"/>
    <p:sldId id="26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071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11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774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847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6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29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98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1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170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86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544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246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Vibration-Based Fault Detection Using Edge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3429000"/>
            <a:ext cx="7290055" cy="2368296"/>
          </a:xfrm>
        </p:spPr>
        <p:txBody>
          <a:bodyPr>
            <a:normAutofit/>
          </a:bodyPr>
          <a:lstStyle/>
          <a:p>
            <a:r>
              <a:rPr lang="en-US" sz="2400" dirty="0"/>
              <a:t>Students</a:t>
            </a:r>
            <a:r>
              <a:rPr sz="2400" dirty="0"/>
              <a:t>: </a:t>
            </a:r>
            <a:endParaRPr lang="en-US" sz="2400" dirty="0"/>
          </a:p>
          <a:p>
            <a:pPr marL="128016" lvl="1" indent="0">
              <a:buNone/>
            </a:pPr>
            <a:r>
              <a:rPr lang="en-US" sz="2400" dirty="0" err="1"/>
              <a:t>Văruicu</a:t>
            </a:r>
            <a:r>
              <a:rPr lang="en-US" sz="2400" dirty="0"/>
              <a:t> Monica</a:t>
            </a:r>
          </a:p>
          <a:p>
            <a:pPr marL="128016" lvl="1" indent="0">
              <a:buNone/>
            </a:pPr>
            <a:r>
              <a:rPr lang="en-US" sz="2400" dirty="0" err="1"/>
              <a:t>Cernătescu</a:t>
            </a:r>
            <a:r>
              <a:rPr lang="en-US" sz="2400" dirty="0"/>
              <a:t> Andreea</a:t>
            </a:r>
          </a:p>
          <a:p>
            <a:pPr lvl="3"/>
            <a:endParaRPr dirty="0"/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8E496E6D-567F-501D-BA7C-31BC2BFEE43D}"/>
              </a:ext>
            </a:extLst>
          </p:cNvPr>
          <p:cNvSpPr txBox="1"/>
          <p:nvPr/>
        </p:nvSpPr>
        <p:spPr>
          <a:xfrm>
            <a:off x="5656185" y="3767328"/>
            <a:ext cx="271971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US" sz="2400" dirty="0" err="1"/>
              <a:t>Sgaibă</a:t>
            </a:r>
            <a:r>
              <a:rPr lang="en-US" sz="2400" dirty="0"/>
              <a:t> Cristian</a:t>
            </a:r>
          </a:p>
          <a:p>
            <a:pPr lvl="1"/>
            <a:r>
              <a:rPr lang="en-US" sz="2400" dirty="0"/>
              <a:t>Popescu Mădălin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65DC85F-C1A2-E140-7AF5-E9FA988FD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3EBC176-A677-F1B4-3818-76891BAC7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- </a:t>
            </a:r>
            <a:r>
              <a:rPr lang="en-US" sz="2800" b="1" dirty="0"/>
              <a:t>Objective</a:t>
            </a:r>
            <a:r>
              <a:rPr lang="en-US" sz="2800" dirty="0"/>
              <a:t>: Detect abnormal vibration patterns using edge-deployed AI models</a:t>
            </a:r>
          </a:p>
          <a:p>
            <a:r>
              <a:rPr lang="en-US" sz="2800" dirty="0"/>
              <a:t>- </a:t>
            </a:r>
            <a:r>
              <a:rPr lang="en-US" sz="2800" b="1" dirty="0"/>
              <a:t>Edge AI Approach</a:t>
            </a:r>
            <a:r>
              <a:rPr lang="en-US" sz="2800" dirty="0"/>
              <a:t>: 1D-CNN and SVM models optimized for </a:t>
            </a:r>
            <a:r>
              <a:rPr lang="en-US" sz="2800" dirty="0" err="1"/>
              <a:t>TinyML</a:t>
            </a:r>
            <a:r>
              <a:rPr lang="en-US" sz="2800" dirty="0"/>
              <a:t> and microcontroller constraints</a:t>
            </a:r>
          </a:p>
          <a:p>
            <a:r>
              <a:rPr lang="en-US" sz="2800" dirty="0"/>
              <a:t>- </a:t>
            </a:r>
            <a:r>
              <a:rPr lang="en-US" sz="2800" b="1" dirty="0"/>
              <a:t>Implementation &amp; Evaluation</a:t>
            </a:r>
            <a:r>
              <a:rPr lang="en-US" sz="2800" dirty="0"/>
              <a:t>: IMU-based vibration data, TensorFlow Lite Micro inference, accuracy and latency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626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- </a:t>
            </a:r>
            <a:r>
              <a:rPr lang="en-US" sz="2800" b="1" dirty="0"/>
              <a:t>Cloud-based Processing</a:t>
            </a:r>
            <a:r>
              <a:rPr lang="en-US" sz="2800" dirty="0"/>
              <a:t>: Introduces latency and relies on network connectivity</a:t>
            </a:r>
          </a:p>
          <a:p>
            <a:r>
              <a:rPr lang="en-US" sz="2800" dirty="0"/>
              <a:t>- </a:t>
            </a:r>
            <a:r>
              <a:rPr lang="en-US" sz="2800" b="1" dirty="0"/>
              <a:t>Edge AI processing</a:t>
            </a:r>
            <a:r>
              <a:rPr lang="en-US" sz="2800" dirty="0"/>
              <a:t>: Enables fast, local, and autonomous decision-making</a:t>
            </a:r>
          </a:p>
          <a:p>
            <a:r>
              <a:rPr lang="en-US" sz="2800" dirty="0"/>
              <a:t>- </a:t>
            </a:r>
            <a:r>
              <a:rPr lang="en-US" sz="2800" b="1" dirty="0"/>
              <a:t>System Benefit</a:t>
            </a:r>
            <a:r>
              <a:rPr lang="en-US" sz="2800" dirty="0"/>
              <a:t>: Reduced response time and improved real-time performance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- </a:t>
            </a:r>
            <a:r>
              <a:rPr lang="en-US" sz="2800" b="1" dirty="0"/>
              <a:t>Device</a:t>
            </a:r>
            <a:r>
              <a:rPr lang="en-US" sz="2800" dirty="0"/>
              <a:t>: IMU (emulated)</a:t>
            </a:r>
          </a:p>
          <a:p>
            <a:r>
              <a:rPr lang="en-US" sz="2800" dirty="0"/>
              <a:t>- </a:t>
            </a:r>
            <a:r>
              <a:rPr lang="en-US" sz="2800" b="1" dirty="0"/>
              <a:t>Edge</a:t>
            </a:r>
            <a:r>
              <a:rPr lang="en-US" sz="2800" dirty="0"/>
              <a:t>: Local AI inference</a:t>
            </a:r>
          </a:p>
          <a:p>
            <a:r>
              <a:rPr lang="en-US" sz="2800" dirty="0"/>
              <a:t>- </a:t>
            </a:r>
            <a:r>
              <a:rPr lang="en-US" sz="2800" b="1" dirty="0"/>
              <a:t>Cloud</a:t>
            </a:r>
            <a:r>
              <a:rPr lang="en-US" sz="2800" dirty="0"/>
              <a:t>: Results analysis</a:t>
            </a:r>
            <a:endParaRPr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9CF949D-B02B-F290-0207-56E967F1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Layer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6A243C9-9E0F-F622-B87B-2A762C073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- </a:t>
            </a:r>
            <a:r>
              <a:rPr lang="en-US" sz="2800" b="1" dirty="0"/>
              <a:t>Device</a:t>
            </a:r>
            <a:r>
              <a:rPr lang="en-US" sz="2800" dirty="0"/>
              <a:t>: Microcontroller with integrated IMU vibration sensor (triaxial accelerometer)</a:t>
            </a:r>
          </a:p>
          <a:p>
            <a:r>
              <a:rPr lang="en-US" sz="2800" dirty="0"/>
              <a:t>- </a:t>
            </a:r>
            <a:r>
              <a:rPr lang="en-US" sz="2800" b="1" dirty="0"/>
              <a:t>Real-world Reference</a:t>
            </a:r>
            <a:r>
              <a:rPr lang="en-US" sz="2800" dirty="0"/>
              <a:t>: Arduino Nano 33 BLE Sense as representative embedded platform</a:t>
            </a:r>
          </a:p>
          <a:p>
            <a:r>
              <a:rPr lang="en-US" sz="2800" dirty="0"/>
              <a:t>- </a:t>
            </a:r>
            <a:r>
              <a:rPr lang="en-US" sz="2800" b="1" dirty="0"/>
              <a:t>Project Approach</a:t>
            </a:r>
            <a:r>
              <a:rPr lang="en-US" sz="2800" dirty="0"/>
              <a:t>: Physical hardware replaced by a real industrial vibration dataset</a:t>
            </a:r>
          </a:p>
        </p:txBody>
      </p:sp>
    </p:spTree>
    <p:extLst>
      <p:ext uri="{BB962C8B-B14F-4D97-AF65-F5344CB8AC3E}">
        <p14:creationId xmlns:p14="http://schemas.microsoft.com/office/powerpoint/2010/main" val="1927212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A22F0ED-7ACF-3B14-5FDD-D257ABDD9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6643DE62-9119-9A1E-2E5C-33F0B360A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- </a:t>
            </a:r>
            <a:r>
              <a:rPr lang="en-US" sz="2800" b="1" dirty="0"/>
              <a:t>Local Data Processing</a:t>
            </a:r>
            <a:r>
              <a:rPr lang="en-US" sz="2800" dirty="0"/>
              <a:t>: Signal segmentation, normalization, and feature preparation performed at the edge</a:t>
            </a:r>
          </a:p>
          <a:p>
            <a:r>
              <a:rPr lang="en-US" sz="2800" dirty="0"/>
              <a:t>- </a:t>
            </a:r>
            <a:r>
              <a:rPr lang="en-US" sz="2800" b="1" dirty="0"/>
              <a:t>AI Inference</a:t>
            </a:r>
            <a:r>
              <a:rPr lang="en-US" sz="2800" dirty="0"/>
              <a:t>: Execution of CNN and SVM models directly on edge devices</a:t>
            </a:r>
          </a:p>
          <a:p>
            <a:r>
              <a:rPr lang="en-US" sz="2800" dirty="0"/>
              <a:t>- </a:t>
            </a:r>
            <a:r>
              <a:rPr lang="en-US" sz="2800" b="1" dirty="0"/>
              <a:t>Embedded Simulation</a:t>
            </a:r>
            <a:r>
              <a:rPr lang="en-US" sz="2800" dirty="0"/>
              <a:t>: TensorFlow Lite used to emulate inference on microcontroller-class hardware</a:t>
            </a:r>
          </a:p>
        </p:txBody>
      </p:sp>
    </p:spTree>
    <p:extLst>
      <p:ext uri="{BB962C8B-B14F-4D97-AF65-F5344CB8AC3E}">
        <p14:creationId xmlns:p14="http://schemas.microsoft.com/office/powerpoint/2010/main" val="2953996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E86C542-BC33-3F4C-A0E8-3A3FCBD52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937E79F-2410-589C-8801-02B00F54A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- </a:t>
            </a:r>
            <a:r>
              <a:rPr lang="en-US" sz="2800" b="1" dirty="0"/>
              <a:t>Result Collection</a:t>
            </a:r>
            <a:r>
              <a:rPr lang="en-US" sz="2800" dirty="0"/>
              <a:t>: Gathering inference outputs and system results</a:t>
            </a:r>
          </a:p>
          <a:p>
            <a:r>
              <a:rPr lang="en-US" sz="2800" dirty="0"/>
              <a:t>- </a:t>
            </a:r>
            <a:r>
              <a:rPr lang="en-US" sz="2800" b="1" dirty="0"/>
              <a:t>Performance Analysis</a:t>
            </a:r>
            <a:r>
              <a:rPr lang="en-US" sz="2800" dirty="0"/>
              <a:t>: Evaluation and comparison using performance metrics</a:t>
            </a:r>
          </a:p>
          <a:p>
            <a:r>
              <a:rPr lang="en-US" sz="2800" dirty="0"/>
              <a:t>- </a:t>
            </a:r>
            <a:r>
              <a:rPr lang="en-US" sz="2800" b="1" dirty="0"/>
              <a:t>Conceptual Visualization</a:t>
            </a:r>
            <a:r>
              <a:rPr lang="en-US" sz="2800" dirty="0"/>
              <a:t>: Reports and tables without a dedicated web dashboard</a:t>
            </a:r>
          </a:p>
        </p:txBody>
      </p:sp>
    </p:spTree>
    <p:extLst>
      <p:ext uri="{BB962C8B-B14F-4D97-AF65-F5344CB8AC3E}">
        <p14:creationId xmlns:p14="http://schemas.microsoft.com/office/powerpoint/2010/main" val="2077390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- </a:t>
            </a:r>
            <a:r>
              <a:rPr lang="en-US" sz="2800" b="1" dirty="0"/>
              <a:t>Problem Formulation</a:t>
            </a:r>
            <a:r>
              <a:rPr lang="en-US" sz="2800" dirty="0"/>
              <a:t>: Binary classification of mechanical system condition based on vibration signals (normal vs. fault)</a:t>
            </a:r>
          </a:p>
          <a:p>
            <a:r>
              <a:rPr lang="en-US" sz="2800" dirty="0"/>
              <a:t>- </a:t>
            </a:r>
            <a:r>
              <a:rPr lang="en-US" sz="2800" b="1" dirty="0"/>
              <a:t>Signal Processing</a:t>
            </a:r>
            <a:r>
              <a:rPr lang="en-US" sz="2800" dirty="0"/>
              <a:t>: Continuous vibration signals segmented into fixed windows of 256 samples, each treated as an independent instance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586618A-6A16-583F-B0CF-32BDCB121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A8C4D95-8E7D-A9F9-C830-3AB45CEDA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- </a:t>
            </a:r>
            <a:r>
              <a:rPr lang="en-US" sz="2800" b="1" dirty="0"/>
              <a:t>Modeling approaches</a:t>
            </a:r>
            <a:r>
              <a:rPr lang="en-US" sz="2800" dirty="0"/>
              <a:t>:</a:t>
            </a:r>
          </a:p>
          <a:p>
            <a:r>
              <a:rPr lang="en-US" sz="2800" dirty="0"/>
              <a:t>	</a:t>
            </a:r>
            <a:r>
              <a:rPr lang="en-US" sz="2400" dirty="0"/>
              <a:t>- </a:t>
            </a:r>
            <a:r>
              <a:rPr lang="en-US" sz="2400" b="1" dirty="0"/>
              <a:t>CNN</a:t>
            </a:r>
            <a:r>
              <a:rPr lang="en-US" sz="2400" dirty="0"/>
              <a:t>: Direct use of raw signal windows with automatic feature learning</a:t>
            </a:r>
          </a:p>
          <a:p>
            <a:r>
              <a:rPr lang="en-US" sz="2400" dirty="0"/>
              <a:t>	- </a:t>
            </a:r>
            <a:r>
              <a:rPr lang="en-US" sz="2400" b="1" dirty="0"/>
              <a:t>SVM</a:t>
            </a:r>
            <a:r>
              <a:rPr lang="en-US" sz="2400" dirty="0"/>
              <a:t>: Manual feature extraction using time-domain (mean, RMS, kurtosis) and frequency-domain (FFT) features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059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33F571F-B174-38FB-1BFC-07E4A1010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7FE93C2-7F79-63C8-68BF-E31544D81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- </a:t>
            </a:r>
            <a:r>
              <a:rPr lang="en-US" sz="2800" b="1" dirty="0"/>
              <a:t>Dataset</a:t>
            </a:r>
            <a:r>
              <a:rPr lang="en-US" sz="2800" dirty="0"/>
              <a:t>: Real vibration signals collected under multiple mechanical operating conditions</a:t>
            </a:r>
          </a:p>
          <a:p>
            <a:r>
              <a:rPr lang="en-US" sz="2800" dirty="0"/>
              <a:t>- </a:t>
            </a:r>
            <a:r>
              <a:rPr lang="en-US" sz="2800" b="1" dirty="0"/>
              <a:t>Operating States</a:t>
            </a:r>
            <a:r>
              <a:rPr lang="en-US" sz="2800" dirty="0"/>
              <a:t>: Ideal and Wear (Normal), Cracking and Offset Pulley (Fault)</a:t>
            </a:r>
          </a:p>
          <a:p>
            <a:r>
              <a:rPr lang="en-US" sz="2800" dirty="0"/>
              <a:t>- </a:t>
            </a:r>
            <a:r>
              <a:rPr lang="en-US" sz="2800" b="1" dirty="0"/>
              <a:t>Binary Labeling</a:t>
            </a:r>
            <a:r>
              <a:rPr lang="en-US" sz="2800" dirty="0"/>
              <a:t>: Normal wear is tolerated, while critical mechanical faults require intervention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961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F9A6887-4663-0642-8EF8-83F5EC56E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Ideal &amp; WEAR (Normal)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1D3FAE62-28A3-5242-2FC0-11AD3C2C10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3D7775BB-FBCD-94D8-54E9-58BD173FB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359" y="1748218"/>
            <a:ext cx="6646545" cy="2215515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96176259-BAE7-3F3C-AC02-0EF2C135F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359" y="4088821"/>
            <a:ext cx="6718984" cy="2239662"/>
          </a:xfrm>
          <a:prstGeom prst="rect">
            <a:avLst/>
          </a:prstGeom>
        </p:spPr>
      </p:pic>
      <p:sp>
        <p:nvSpPr>
          <p:cNvPr id="10" name="CasetăText 9">
            <a:extLst>
              <a:ext uri="{FF2B5EF4-FFF2-40B4-BE49-F238E27FC236}">
                <a16:creationId xmlns:a16="http://schemas.microsoft.com/office/drawing/2014/main" id="{E2462E9A-1F6B-DCA6-E8C2-72DBAD60FB3F}"/>
              </a:ext>
            </a:extLst>
          </p:cNvPr>
          <p:cNvSpPr txBox="1"/>
          <p:nvPr/>
        </p:nvSpPr>
        <p:spPr>
          <a:xfrm>
            <a:off x="603504" y="2654950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IDEAL</a:t>
            </a:r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1B88B3F8-3F8A-F4E2-F115-B782EBB62F72}"/>
              </a:ext>
            </a:extLst>
          </p:cNvPr>
          <p:cNvSpPr txBox="1"/>
          <p:nvPr/>
        </p:nvSpPr>
        <p:spPr>
          <a:xfrm>
            <a:off x="603504" y="5023986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WEAR</a:t>
            </a:r>
          </a:p>
        </p:txBody>
      </p:sp>
    </p:spTree>
    <p:extLst>
      <p:ext uri="{BB962C8B-B14F-4D97-AF65-F5344CB8AC3E}">
        <p14:creationId xmlns:p14="http://schemas.microsoft.com/office/powerpoint/2010/main" val="3637195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11449-9908-49B0-42EE-185DD140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93D1393-DDA3-664D-3515-38862B229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Cracking and Offset Pulley (fault)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D13B388A-699A-8246-79BC-C02D22220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CasetăText 9">
            <a:extLst>
              <a:ext uri="{FF2B5EF4-FFF2-40B4-BE49-F238E27FC236}">
                <a16:creationId xmlns:a16="http://schemas.microsoft.com/office/drawing/2014/main" id="{732E7267-4D03-C3E7-0666-22FD503E5CBB}"/>
              </a:ext>
            </a:extLst>
          </p:cNvPr>
          <p:cNvSpPr txBox="1"/>
          <p:nvPr/>
        </p:nvSpPr>
        <p:spPr>
          <a:xfrm>
            <a:off x="506502" y="2654950"/>
            <a:ext cx="1218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CRACKING</a:t>
            </a:r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088A7DA2-B925-2A6A-ECE0-E260DE513D34}"/>
              </a:ext>
            </a:extLst>
          </p:cNvPr>
          <p:cNvSpPr txBox="1"/>
          <p:nvPr/>
        </p:nvSpPr>
        <p:spPr>
          <a:xfrm>
            <a:off x="642949" y="4885486"/>
            <a:ext cx="946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OFFSET </a:t>
            </a:r>
          </a:p>
          <a:p>
            <a:r>
              <a:rPr lang="en-US" dirty="0"/>
              <a:t>PULLEY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E3DE2101-C02F-C5F4-02B4-31D71EB42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642" y="1735512"/>
            <a:ext cx="6577262" cy="2192421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E2347FA1-00DF-FA46-F403-0619DBEBB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644" y="4080364"/>
            <a:ext cx="6577260" cy="219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078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- </a:t>
            </a:r>
            <a:r>
              <a:rPr lang="en-US" sz="2400" b="1" dirty="0"/>
              <a:t>Software Pipeline</a:t>
            </a:r>
            <a:r>
              <a:rPr lang="en-US" sz="2400" dirty="0"/>
              <a:t>: Fully implemented in Python with a modular structure for reproducible preprocessing, training, evaluation, and edge inference simulation</a:t>
            </a:r>
          </a:p>
          <a:p>
            <a:r>
              <a:rPr lang="en-US" sz="2400" dirty="0"/>
              <a:t>- </a:t>
            </a:r>
            <a:r>
              <a:rPr lang="en-US" sz="2400" b="1" dirty="0"/>
              <a:t>CNN Implementation</a:t>
            </a:r>
            <a:r>
              <a:rPr lang="en-US" sz="2400" dirty="0"/>
              <a:t>: TensorFlow-based model converted and int8-quantized using TensorFlow Lite to reduce model size and computational cost</a:t>
            </a:r>
          </a:p>
          <a:p>
            <a:r>
              <a:rPr lang="en-US" sz="2400" dirty="0"/>
              <a:t>- </a:t>
            </a:r>
            <a:r>
              <a:rPr lang="en-US" sz="2400" b="1" dirty="0"/>
              <a:t>SVM Implementation</a:t>
            </a:r>
            <a:r>
              <a:rPr lang="en-US" sz="2400" dirty="0"/>
              <a:t>: Linear SVM implemented with scikit-learn, selected for fair comparison and suitability for embedded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- </a:t>
            </a:r>
            <a:r>
              <a:rPr lang="en-US" sz="2800" b="1" dirty="0"/>
              <a:t>Int8 CNN</a:t>
            </a:r>
            <a:r>
              <a:rPr lang="en-US" sz="2800" dirty="0"/>
              <a:t>: Accuracy ≈ 0.83 with ultra-low latency (~0.008 </a:t>
            </a:r>
            <a:r>
              <a:rPr lang="en-US" sz="2800" dirty="0" err="1"/>
              <a:t>ms</a:t>
            </a:r>
            <a:r>
              <a:rPr lang="en-US" sz="2800" dirty="0"/>
              <a:t>), suitable for real-time edge inference</a:t>
            </a:r>
          </a:p>
          <a:p>
            <a:r>
              <a:rPr lang="en-US" sz="2800" dirty="0"/>
              <a:t>- </a:t>
            </a:r>
            <a:r>
              <a:rPr lang="en-US" sz="2800" b="1" dirty="0"/>
              <a:t>SVM</a:t>
            </a:r>
            <a:r>
              <a:rPr lang="en-US" sz="2800" dirty="0"/>
              <a:t>: Accuracy ≈ 0.80 but significantly higher latency (~0.38 </a:t>
            </a:r>
            <a:r>
              <a:rPr lang="en-US" sz="2800" dirty="0" err="1"/>
              <a:t>ms</a:t>
            </a:r>
            <a:r>
              <a:rPr lang="en-US" sz="2800" dirty="0"/>
              <a:t>) due to feature extraction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3D40A7C-420F-2A2F-938A-EA6DB27C0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A07C1D6-B57C-6328-6564-ED206E227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- </a:t>
            </a:r>
            <a:r>
              <a:rPr lang="en-US" sz="2800" b="1" dirty="0"/>
              <a:t>Key Insight</a:t>
            </a:r>
            <a:r>
              <a:rPr lang="en-US" sz="2800" dirty="0"/>
              <a:t>: Similar accuracy but vastly different latency, critical for edge AI systems</a:t>
            </a:r>
          </a:p>
          <a:p>
            <a:r>
              <a:rPr lang="en-US" sz="2800" dirty="0"/>
              <a:t>- </a:t>
            </a:r>
            <a:r>
              <a:rPr lang="en-US" sz="2800" b="1" dirty="0"/>
              <a:t>Model Comparison</a:t>
            </a:r>
            <a:r>
              <a:rPr lang="en-US" sz="2800" dirty="0"/>
              <a:t>: Quantized CNN enables real-time edge deployment, while SVM is limited by feature extraction overhead</a:t>
            </a:r>
          </a:p>
        </p:txBody>
      </p:sp>
    </p:spTree>
    <p:extLst>
      <p:ext uri="{BB962C8B-B14F-4D97-AF65-F5344CB8AC3E}">
        <p14:creationId xmlns:p14="http://schemas.microsoft.com/office/powerpoint/2010/main" val="3199436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- </a:t>
            </a:r>
            <a:r>
              <a:rPr lang="en-US" sz="2800" b="1" dirty="0"/>
              <a:t>Overall Conclusion</a:t>
            </a:r>
            <a:r>
              <a:rPr lang="en-US" sz="2800" dirty="0"/>
              <a:t>: Int8 quantized CNN offers the best trade-off between accuracy, latency, and complexity for </a:t>
            </a:r>
            <a:r>
              <a:rPr lang="en-US" sz="2800" dirty="0" err="1"/>
              <a:t>TinyML</a:t>
            </a:r>
            <a:r>
              <a:rPr lang="en-US" sz="2800" dirty="0"/>
              <a:t> applications</a:t>
            </a:r>
          </a:p>
          <a:p>
            <a:r>
              <a:rPr lang="en-US" sz="2800" dirty="0"/>
              <a:t>- </a:t>
            </a:r>
            <a:r>
              <a:rPr lang="en-US" sz="2800" b="1" dirty="0"/>
              <a:t>Impact</a:t>
            </a:r>
            <a:r>
              <a:rPr lang="en-US" sz="2800" dirty="0"/>
              <a:t>: Results demonstrate the feasibility of Edge AI for real-world industrial predictive maintenance based on vibration analysis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ă">
  <a:themeElements>
    <a:clrScheme name="Integrală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ă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ă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52</TotalTime>
  <Words>561</Words>
  <Application>Microsoft Office PowerPoint</Application>
  <PresentationFormat>Expunere pe ecran (4:3)</PresentationFormat>
  <Paragraphs>61</Paragraphs>
  <Slides>16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16</vt:i4>
      </vt:variant>
    </vt:vector>
  </HeadingPairs>
  <TitlesOfParts>
    <vt:vector size="20" baseType="lpstr">
      <vt:lpstr>Tw Cen MT</vt:lpstr>
      <vt:lpstr>Tw Cen MT Condensed</vt:lpstr>
      <vt:lpstr>Wingdings 3</vt:lpstr>
      <vt:lpstr>Integrală</vt:lpstr>
      <vt:lpstr>Vibration-Based Fault Detection Using Edge AI</vt:lpstr>
      <vt:lpstr>Problem Statement</vt:lpstr>
      <vt:lpstr>Motivation</vt:lpstr>
      <vt:lpstr>System Architecture</vt:lpstr>
      <vt:lpstr>Device Layer</vt:lpstr>
      <vt:lpstr>Edge</vt:lpstr>
      <vt:lpstr>Cloud</vt:lpstr>
      <vt:lpstr>Methodology</vt:lpstr>
      <vt:lpstr>Methodology</vt:lpstr>
      <vt:lpstr>dataset</vt:lpstr>
      <vt:lpstr>Ideal &amp; WEAR (Normal)</vt:lpstr>
      <vt:lpstr>Cracking and Offset Pulley (fault)</vt:lpstr>
      <vt:lpstr>Implementation</vt:lpstr>
      <vt:lpstr>Results</vt:lpstr>
      <vt:lpstr>Results</vt:lpstr>
      <vt:lpstr>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Constantin Mădălin Popescu</cp:lastModifiedBy>
  <cp:revision>26</cp:revision>
  <dcterms:created xsi:type="dcterms:W3CDTF">2013-01-27T09:14:16Z</dcterms:created>
  <dcterms:modified xsi:type="dcterms:W3CDTF">2026-01-14T18:22:00Z</dcterms:modified>
  <cp:category/>
</cp:coreProperties>
</file>